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Public Sans"/>
      <p:regular r:id="rId201314"/>
    </p:embeddedFont>
    <p:embeddedFont>
      <p:font typeface="Public Sans Medium"/>
      <p:regular r:id="rId201315"/>
    </p:embeddedFont>
    <p:embeddedFont>
      <p:font typeface="Public Sans SemiBold"/>
      <p:regular r:id="rId201316"/>
    </p:embeddedFont>
    <p:embeddedFont>
      <p:font typeface="Public Sans Bold"/>
      <p:regular r:id="rId201317"/>
    </p:embeddedFont>
    <p:embeddedFont>
      <p:font typeface="Sora Semi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D5D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27000"/>
            <a:ext cx="1173450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PRIVATE PROTOTYPE · FOR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189" y="410766"/>
            <a:ext cx="11277318" cy="5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4000" spc="-40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Pulse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189" y="1195586"/>
            <a:ext cx="11734506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Student Academic Information &amp; Communication Platform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189" y="1702296"/>
            <a:ext cx="11277318" cy="4234656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6" name="Text 4"/>
          <p:cNvSpPr/>
          <p:nvPr/>
        </p:nvSpPr>
        <p:spPr>
          <a:xfrm>
            <a:off x="685783" y="1930896"/>
            <a:ext cx="3154581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Pulse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992661" y="1930896"/>
            <a:ext cx="6134046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Home　 Notices　 Events　 About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0279004" y="1930896"/>
            <a:ext cx="848299" cy="336649"/>
          </a:xfrm>
          <a:prstGeom prst="roundRect">
            <a:avLst>
              <a:gd name="adj" fmla="val 7696"/>
            </a:avLst>
          </a:prstGeom>
          <a:solidFill>
            <a:srgbClr val="D1F7FA"/>
          </a:solidFill>
          <a:ln/>
        </p:spPr>
      </p:sp>
      <p:sp>
        <p:nvSpPr>
          <p:cNvPr id="9" name="Text 7"/>
          <p:cNvSpPr/>
          <p:nvPr/>
        </p:nvSpPr>
        <p:spPr>
          <a:xfrm>
            <a:off x="10408481" y="1995587"/>
            <a:ext cx="1097332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82" kern="0" dirty="0">
                <a:solidFill>
                  <a:srgbClr val="3A475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LOGIN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783" y="2446933"/>
            <a:ext cx="10820129" cy="31651"/>
          </a:xfrm>
          <a:prstGeom prst="roundRect">
            <a:avLst>
              <a:gd name="adj" fmla="val 49998"/>
            </a:avLst>
          </a:prstGeom>
          <a:solidFill>
            <a:srgbClr val="A7B3BE"/>
          </a:solidFill>
          <a:ln/>
        </p:spPr>
      </p:sp>
      <p:sp>
        <p:nvSpPr>
          <p:cNvPr id="11" name="Text 9"/>
          <p:cNvSpPr/>
          <p:nvPr/>
        </p:nvSpPr>
        <p:spPr>
          <a:xfrm>
            <a:off x="685783" y="2724745"/>
            <a:ext cx="1104872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0" dirty="0">
                <a:solidFill>
                  <a:srgbClr val="3A4756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YOUR ACADEMIC SPACE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783" y="3008511"/>
            <a:ext cx="10820129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3A4756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Your Academic Space, Organized.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85783" y="3679527"/>
            <a:ext cx="11048724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Access notices, events, study materials and academic information in one place.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85783" y="4119563"/>
            <a:ext cx="1541821" cy="336649"/>
          </a:xfrm>
          <a:prstGeom prst="roundRect">
            <a:avLst>
              <a:gd name="adj" fmla="val 7696"/>
            </a:avLst>
          </a:prstGeom>
          <a:solidFill>
            <a:srgbClr val="D1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815260" y="4184253"/>
            <a:ext cx="1892451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82" kern="0" dirty="0">
                <a:solidFill>
                  <a:srgbClr val="3A475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GET STARTED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2335551" y="4119563"/>
            <a:ext cx="848299" cy="336649"/>
          </a:xfrm>
          <a:prstGeom prst="roundRect">
            <a:avLst>
              <a:gd name="adj" fmla="val 7696"/>
            </a:avLst>
          </a:prstGeom>
          <a:noFill/>
          <a:ln w="6350">
            <a:solidFill>
              <a:srgbClr val="3A47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5028" y="4184253"/>
            <a:ext cx="1198929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82" kern="0" dirty="0">
                <a:solidFill>
                  <a:srgbClr val="3A475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LOGIN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85783" y="4583212"/>
            <a:ext cx="2590735" cy="1125141"/>
          </a:xfrm>
          <a:prstGeom prst="roundRect">
            <a:avLst>
              <a:gd name="adj" fmla="val 2878"/>
            </a:avLst>
          </a:prstGeom>
          <a:solidFill>
            <a:srgbClr val="E4EAEF"/>
          </a:solidFill>
          <a:ln w="25399">
            <a:solidFill>
              <a:srgbClr val="CDD0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9776" y="4837212"/>
            <a:ext cx="208274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Notices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428914" y="4583212"/>
            <a:ext cx="2590735" cy="1125141"/>
          </a:xfrm>
          <a:prstGeom prst="roundRect">
            <a:avLst>
              <a:gd name="adj" fmla="val 2878"/>
            </a:avLst>
          </a:prstGeom>
          <a:solidFill>
            <a:srgbClr val="E4EAEF"/>
          </a:solidFill>
          <a:ln w="25399">
            <a:solidFill>
              <a:srgbClr val="CDD0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82908" y="4837212"/>
            <a:ext cx="208274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Events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172046" y="4583212"/>
            <a:ext cx="2590735" cy="1125141"/>
          </a:xfrm>
          <a:prstGeom prst="roundRect">
            <a:avLst>
              <a:gd name="adj" fmla="val 2878"/>
            </a:avLst>
          </a:prstGeom>
          <a:solidFill>
            <a:srgbClr val="E4EAEF"/>
          </a:solidFill>
          <a:ln w="25399">
            <a:solidFill>
              <a:srgbClr val="CDD0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26039" y="4837212"/>
            <a:ext cx="208274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Study Materials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915177" y="4583212"/>
            <a:ext cx="2590735" cy="1125141"/>
          </a:xfrm>
          <a:prstGeom prst="roundRect">
            <a:avLst>
              <a:gd name="adj" fmla="val 2878"/>
            </a:avLst>
          </a:prstGeom>
          <a:solidFill>
            <a:srgbClr val="E4EAEF"/>
          </a:solidFill>
          <a:ln w="25399">
            <a:solidFill>
              <a:srgbClr val="CDD0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69171" y="4837212"/>
            <a:ext cx="2082748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Academic Information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57189" y="6130627"/>
            <a:ext cx="2864175" cy="336649"/>
          </a:xfrm>
          <a:prstGeom prst="roundRect">
            <a:avLst>
              <a:gd name="adj" fmla="val 7696"/>
            </a:avLst>
          </a:prstGeom>
          <a:solidFill>
            <a:srgbClr val="D1F7FA"/>
          </a:solidFill>
          <a:ln/>
        </p:spPr>
      </p:sp>
      <p:sp>
        <p:nvSpPr>
          <p:cNvPr id="27" name="Text 25"/>
          <p:cNvSpPr/>
          <p:nvPr/>
        </p:nvSpPr>
        <p:spPr>
          <a:xfrm>
            <a:off x="586666" y="6195318"/>
            <a:ext cx="3214806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82" kern="0" dirty="0">
                <a:solidFill>
                  <a:srgbClr val="3A475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PROTOTYPE — FOR REVIEW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21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950" spc="-30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Login routes each role to the right workspace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609585" y="1216720"/>
            <a:ext cx="3530512" cy="2721769"/>
          </a:xfrm>
          <a:prstGeom prst="roundRect">
            <a:avLst>
              <a:gd name="adj" fmla="val 1103"/>
            </a:avLst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3578" y="1470720"/>
            <a:ext cx="81922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63578" y="1750616"/>
            <a:ext cx="3022425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863578" y="1843187"/>
            <a:ext cx="3276518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89" kern="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LOGIN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3578" y="2100163"/>
            <a:ext cx="3022524" cy="285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50" spc="-17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Welcome Back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63578" y="2519660"/>
            <a:ext cx="3276518" cy="198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User ID / Enrollment Number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63578" y="2875756"/>
            <a:ext cx="3022425" cy="31651"/>
          </a:xfrm>
          <a:prstGeom prst="roundRect">
            <a:avLst>
              <a:gd name="adj" fmla="val 49998"/>
            </a:avLst>
          </a:prstGeom>
          <a:solidFill>
            <a:srgbClr val="A7B3BE"/>
          </a:solidFill>
          <a:ln/>
        </p:spPr>
      </p:sp>
      <p:sp>
        <p:nvSpPr>
          <p:cNvPr id="10" name="Text 8"/>
          <p:cNvSpPr/>
          <p:nvPr/>
        </p:nvSpPr>
        <p:spPr>
          <a:xfrm>
            <a:off x="863578" y="3064966"/>
            <a:ext cx="3276518" cy="198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Password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63578" y="3372644"/>
            <a:ext cx="785892" cy="311845"/>
          </a:xfrm>
          <a:prstGeom prst="roundRect">
            <a:avLst>
              <a:gd name="adj" fmla="val 7699"/>
            </a:avLst>
          </a:prstGeom>
          <a:solidFill>
            <a:srgbClr val="D1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983531" y="3432572"/>
            <a:ext cx="115557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76" kern="0" dirty="0">
                <a:solidFill>
                  <a:srgbClr val="3A475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LOGIN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749480" y="3432572"/>
            <a:ext cx="239061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76" kern="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FORGOT PASSWORD?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292493" y="1216720"/>
            <a:ext cx="3530512" cy="2721769"/>
          </a:xfrm>
          <a:prstGeom prst="roundRect">
            <a:avLst>
              <a:gd name="adj" fmla="val 1103"/>
            </a:avLst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6486" y="1470720"/>
            <a:ext cx="85901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46486" y="1750616"/>
            <a:ext cx="3022425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4546486" y="1843187"/>
            <a:ext cx="3022524" cy="285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50" spc="-17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Authentication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4546486" y="2262684"/>
            <a:ext cx="327651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Credentials checked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9585" y="4090888"/>
            <a:ext cx="3530512" cy="2721769"/>
          </a:xfrm>
          <a:prstGeom prst="roundRect">
            <a:avLst>
              <a:gd name="adj" fmla="val 1103"/>
            </a:avLst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3578" y="4344888"/>
            <a:ext cx="86447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63578" y="4624784"/>
            <a:ext cx="3022425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2" name="Text 20"/>
          <p:cNvSpPr/>
          <p:nvPr/>
        </p:nvSpPr>
        <p:spPr>
          <a:xfrm>
            <a:off x="863578" y="4717355"/>
            <a:ext cx="3022524" cy="285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50" spc="-17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Role Identification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863578" y="5136852"/>
            <a:ext cx="327651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Role determines workspace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92493" y="4090888"/>
            <a:ext cx="3530512" cy="2721769"/>
          </a:xfrm>
          <a:prstGeom prst="roundRect">
            <a:avLst>
              <a:gd name="adj" fmla="val 1103"/>
            </a:avLst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46486" y="4344888"/>
            <a:ext cx="86377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46486" y="4624784"/>
            <a:ext cx="3022425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7" name="Text 25"/>
          <p:cNvSpPr/>
          <p:nvPr/>
        </p:nvSpPr>
        <p:spPr>
          <a:xfrm>
            <a:off x="4546486" y="4717355"/>
            <a:ext cx="3022524" cy="285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50" spc="-17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Appropriate Dashboard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7975400" y="1216720"/>
            <a:ext cx="3606710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89" kern="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ROLE-BASED DESTINATIONS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75400" y="1509216"/>
            <a:ext cx="3606710" cy="1513483"/>
          </a:xfrm>
          <a:prstGeom prst="roundRect">
            <a:avLst>
              <a:gd name="adj" fmla="val 1983"/>
            </a:avLst>
          </a:prstGeom>
          <a:solidFill>
            <a:srgbClr val="E7EAF0"/>
          </a:solidFill>
          <a:ln/>
        </p:spPr>
      </p:sp>
      <p:sp>
        <p:nvSpPr>
          <p:cNvPr id="30" name="Text 28"/>
          <p:cNvSpPr/>
          <p:nvPr/>
        </p:nvSpPr>
        <p:spPr>
          <a:xfrm>
            <a:off x="8203995" y="1737816"/>
            <a:ext cx="3149521" cy="6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spcAft>
                <a:spcPts val="850"/>
              </a:spcAft>
              <a:buNone/>
            </a:pPr>
            <a:r>
              <a:rPr lang="en-US" sz="16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Student</a:t>
            </a:r>
            <a:endParaRPr lang="en-US" sz="16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CR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975400" y="3175000"/>
            <a:ext cx="3606710" cy="1513681"/>
          </a:xfrm>
          <a:prstGeom prst="roundRect">
            <a:avLst>
              <a:gd name="adj" fmla="val 1983"/>
            </a:avLst>
          </a:prstGeom>
          <a:solidFill>
            <a:srgbClr val="E7EAF0"/>
          </a:solidFill>
          <a:ln/>
        </p:spPr>
      </p:sp>
      <p:sp>
        <p:nvSpPr>
          <p:cNvPr id="32" name="Text 30"/>
          <p:cNvSpPr/>
          <p:nvPr/>
        </p:nvSpPr>
        <p:spPr>
          <a:xfrm>
            <a:off x="8203995" y="3403600"/>
            <a:ext cx="3149521" cy="6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spcAft>
                <a:spcPts val="850"/>
              </a:spcAft>
              <a:buNone/>
            </a:pPr>
            <a:r>
              <a:rPr lang="en-US" sz="16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Faculty</a:t>
            </a:r>
            <a:endParaRPr lang="en-US" sz="16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Coordinator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975400" y="4840982"/>
            <a:ext cx="3606710" cy="1513483"/>
          </a:xfrm>
          <a:prstGeom prst="roundRect">
            <a:avLst>
              <a:gd name="adj" fmla="val 1983"/>
            </a:avLst>
          </a:prstGeom>
          <a:solidFill>
            <a:srgbClr val="E7EAF0"/>
          </a:solidFill>
          <a:ln/>
        </p:spPr>
      </p:sp>
      <p:sp>
        <p:nvSpPr>
          <p:cNvPr id="34" name="Text 32"/>
          <p:cNvSpPr/>
          <p:nvPr/>
        </p:nvSpPr>
        <p:spPr>
          <a:xfrm>
            <a:off x="8203995" y="5069582"/>
            <a:ext cx="3149521" cy="1056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spcAft>
                <a:spcPts val="850"/>
              </a:spcAft>
              <a:buNone/>
            </a:pPr>
            <a:r>
              <a:rPr lang="en-US" sz="16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Program Head</a:t>
            </a:r>
            <a:endParaRPr lang="en-US" sz="1600" dirty="0"/>
          </a:p>
          <a:p>
            <a:pPr algn="l" indent="0" marL="0">
              <a:lnSpc>
                <a:spcPct val="116000"/>
              </a:lnSpc>
              <a:spcAft>
                <a:spcPts val="850"/>
              </a:spcAft>
              <a:buNone/>
            </a:pPr>
            <a:r>
              <a:rPr lang="en-US" sz="16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Dean</a:t>
            </a:r>
            <a:endParaRPr lang="en-US" sz="160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6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Admin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975400" y="6463506"/>
            <a:ext cx="3606710" cy="397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Prototype uses demonstration accounts/sample data.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1402132" y="6451898"/>
            <a:ext cx="789563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Students see content for their academic group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1280616"/>
            <a:ext cx="2489138" cy="4627662"/>
          </a:xfrm>
          <a:prstGeom prst="rect">
            <a:avLst/>
          </a:prstGeom>
          <a:solidFill>
            <a:srgbClr val="1B2632"/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1509216"/>
            <a:ext cx="2031949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Pulse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8179" y="1973362"/>
            <a:ext cx="2031949" cy="3706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Dashboard</a:t>
            </a:r>
            <a:endParaRPr lang="en-US" sz="1700" dirty="0"/>
          </a:p>
          <a:p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Notices</a:t>
            </a:r>
            <a:endParaRPr lang="en-US" sz="1700" dirty="0"/>
          </a:p>
          <a:p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Events</a:t>
            </a:r>
            <a:endParaRPr lang="en-US" sz="1700" dirty="0"/>
          </a:p>
          <a:p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Study Materials</a:t>
            </a:r>
            <a:endParaRPr lang="en-US" sz="1700" dirty="0"/>
          </a:p>
          <a:p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Assignments</a:t>
            </a:r>
            <a:endParaRPr lang="en-US" sz="1700" dirty="0"/>
          </a:p>
          <a:p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Academic Information</a:t>
            </a:r>
            <a:endParaRPr lang="en-US" sz="1700" dirty="0"/>
          </a:p>
          <a:p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Search</a:t>
            </a:r>
            <a:endParaRPr lang="en-US" sz="17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Profile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403416" y="1509216"/>
            <a:ext cx="535083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STUDENT DASHBOARD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03416" y="1792982"/>
            <a:ext cx="5350833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Hello, Student </a:t>
            </a:r>
            <a:pPr algn="l" indent="0" marL="0">
              <a:lnSpc>
                <a:spcPct val="113000"/>
              </a:lnSpc>
              <a:buNone/>
            </a:pPr>
            <a:r>
              <a:rPr lang="en-US" sz="1800" spc="-18" kern="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06644" y="1509216"/>
            <a:ext cx="267546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B.Tech • Semester 3 • Section F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906644" y="1850529"/>
            <a:ext cx="2675466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🔔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　Profile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403416" y="2342952"/>
            <a:ext cx="8178595" cy="31651"/>
          </a:xfrm>
          <a:prstGeom prst="roundRect">
            <a:avLst>
              <a:gd name="adj" fmla="val 49998"/>
            </a:avLst>
          </a:prstGeom>
          <a:solidFill>
            <a:srgbClr val="A7B3BE"/>
          </a:solidFill>
          <a:ln/>
        </p:spPr>
      </p:sp>
      <p:sp>
        <p:nvSpPr>
          <p:cNvPr id="11" name="Text 9"/>
          <p:cNvSpPr/>
          <p:nvPr/>
        </p:nvSpPr>
        <p:spPr>
          <a:xfrm>
            <a:off x="3403416" y="2554089"/>
            <a:ext cx="817869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Search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03416" y="2895402"/>
            <a:ext cx="1930352" cy="1074341"/>
          </a:xfrm>
          <a:prstGeom prst="roundRect">
            <a:avLst>
              <a:gd name="adj" fmla="val 3014"/>
            </a:avLst>
          </a:prstGeom>
          <a:solidFill>
            <a:srgbClr val="E7EAF0"/>
          </a:solidFill>
          <a:ln/>
        </p:spPr>
      </p:sp>
      <p:sp>
        <p:nvSpPr>
          <p:cNvPr id="13" name="Text 11"/>
          <p:cNvSpPr/>
          <p:nvPr/>
        </p:nvSpPr>
        <p:spPr>
          <a:xfrm>
            <a:off x="3632010" y="3124002"/>
            <a:ext cx="147316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New Notices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164" y="2895402"/>
            <a:ext cx="1930352" cy="1074341"/>
          </a:xfrm>
          <a:prstGeom prst="roundRect">
            <a:avLst>
              <a:gd name="adj" fmla="val 3014"/>
            </a:avLst>
          </a:prstGeom>
          <a:solidFill>
            <a:srgbClr val="E7EAF0"/>
          </a:solidFill>
          <a:ln/>
        </p:spPr>
      </p:sp>
      <p:sp>
        <p:nvSpPr>
          <p:cNvPr id="15" name="Text 13"/>
          <p:cNvSpPr/>
          <p:nvPr/>
        </p:nvSpPr>
        <p:spPr>
          <a:xfrm>
            <a:off x="5714758" y="3124002"/>
            <a:ext cx="1473163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Upcoming Events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568911" y="2895402"/>
            <a:ext cx="1930352" cy="1074341"/>
          </a:xfrm>
          <a:prstGeom prst="roundRect">
            <a:avLst>
              <a:gd name="adj" fmla="val 3014"/>
            </a:avLst>
          </a:prstGeom>
          <a:solidFill>
            <a:srgbClr val="E7EAF0"/>
          </a:solidFill>
          <a:ln/>
        </p:spPr>
      </p:sp>
      <p:sp>
        <p:nvSpPr>
          <p:cNvPr id="17" name="Text 15"/>
          <p:cNvSpPr/>
          <p:nvPr/>
        </p:nvSpPr>
        <p:spPr>
          <a:xfrm>
            <a:off x="7797506" y="3124002"/>
            <a:ext cx="1473163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Study Materials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651659" y="2895402"/>
            <a:ext cx="1930451" cy="1074341"/>
          </a:xfrm>
          <a:prstGeom prst="roundRect">
            <a:avLst>
              <a:gd name="adj" fmla="val 3014"/>
            </a:avLst>
          </a:prstGeom>
          <a:solidFill>
            <a:srgbClr val="E7EAF0"/>
          </a:solidFill>
          <a:ln/>
        </p:spPr>
      </p:sp>
      <p:sp>
        <p:nvSpPr>
          <p:cNvPr id="19" name="Text 17"/>
          <p:cNvSpPr/>
          <p:nvPr/>
        </p:nvSpPr>
        <p:spPr>
          <a:xfrm>
            <a:off x="9880254" y="3124002"/>
            <a:ext cx="1473262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Assignments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09585" y="6101953"/>
            <a:ext cx="5410065" cy="821035"/>
          </a:xfrm>
          <a:prstGeom prst="roundRect">
            <a:avLst>
              <a:gd name="adj" fmla="val 3944"/>
            </a:avLst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3578" y="6355953"/>
            <a:ext cx="5156071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Dashboard → Notices → Notice Details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172046" y="6101953"/>
            <a:ext cx="5410065" cy="821035"/>
          </a:xfrm>
          <a:prstGeom prst="roundRect">
            <a:avLst>
              <a:gd name="adj" fmla="val 3944"/>
            </a:avLst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26039" y="6355953"/>
            <a:ext cx="5156071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Dashboard → Study Materials → Material Details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1398263" y="6451898"/>
            <a:ext cx="793432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Publishing a study material connects faculty and student views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1735733"/>
            <a:ext cx="10972526" cy="1459111"/>
          </a:xfrm>
          <a:prstGeom prst="roundRect">
            <a:avLst>
              <a:gd name="adj" fmla="val 2219"/>
            </a:avLst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3578" y="1989733"/>
            <a:ext cx="1071853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FACULTY · PUBLISH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3578" y="2314773"/>
            <a:ext cx="10464538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Faculty Dashboard → Upload Material → Choose File: PDF / PPT / DOC / Excel → Enter Details → Select: FOCT → B.Tech → Semester 3 → Section F → Publish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09585" y="3347244"/>
            <a:ext cx="10972526" cy="1095276"/>
          </a:xfrm>
          <a:prstGeom prst="roundRect">
            <a:avLst>
              <a:gd name="adj" fmla="val 2957"/>
            </a:avLst>
          </a:prstGeom>
          <a:solidFill>
            <a:srgbClr val="E7EAF0"/>
          </a:solidFill>
          <a:ln/>
        </p:spPr>
      </p:sp>
      <p:sp>
        <p:nvSpPr>
          <p:cNvPr id="7" name="Text 5"/>
          <p:cNvSpPr/>
          <p:nvPr/>
        </p:nvSpPr>
        <p:spPr>
          <a:xfrm>
            <a:off x="838179" y="3575844"/>
            <a:ext cx="1074393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STUDENT · RECEIVE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8179" y="3900884"/>
            <a:ext cx="10743931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Student Dashboard → Study Materials → Python → Python Unit 1 Notes.pdf → View / Open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09585" y="4690170"/>
            <a:ext cx="10972526" cy="38100"/>
          </a:xfrm>
          <a:prstGeom prst="roundRect">
            <a:avLst>
              <a:gd name="adj" fmla="val 49999"/>
            </a:avLst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609585" y="4975920"/>
            <a:ext cx="1158211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published resource appears in the matching student view.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397766" y="6451898"/>
            <a:ext cx="79392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13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900" spc="-29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Faculty can publish targeted academic resources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09585" y="1201440"/>
            <a:ext cx="2489138" cy="5660033"/>
          </a:xfrm>
          <a:prstGeom prst="rect">
            <a:avLst/>
          </a:prstGeom>
          <a:solidFill>
            <a:srgbClr val="1B2632"/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1430040"/>
            <a:ext cx="2031949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50" spc="-16" kern="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Pulse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38179" y="1838821"/>
            <a:ext cx="2031949" cy="2152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Dashboard</a:t>
            </a:r>
            <a:endParaRPr lang="en-US" sz="15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My Materials</a:t>
            </a:r>
            <a:endParaRPr lang="en-US" sz="15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Upload Material</a:t>
            </a:r>
            <a:endParaRPr lang="en-US" sz="15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Notices</a:t>
            </a:r>
            <a:endParaRPr lang="en-US" sz="1550" dirty="0"/>
          </a:p>
          <a:p>
            <a:pPr algn="l"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Events</a:t>
            </a:r>
            <a:endParaRPr lang="en-US" sz="15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Profile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403416" y="1430040"/>
            <a:ext cx="8178695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87" kern="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FACULTY WORKSPACE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03416" y="1714897"/>
            <a:ext cx="8178695" cy="373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spc="-22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Faculty Dashboard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03416" y="2217241"/>
            <a:ext cx="1842248" cy="305991"/>
          </a:xfrm>
          <a:prstGeom prst="roundRect">
            <a:avLst>
              <a:gd name="adj" fmla="val 7694"/>
            </a:avLst>
          </a:prstGeom>
          <a:solidFill>
            <a:srgbClr val="D1F7FA"/>
          </a:solidFill>
          <a:ln/>
        </p:spPr>
      </p:sp>
      <p:sp>
        <p:nvSpPr>
          <p:cNvPr id="9" name="Text 7"/>
          <p:cNvSpPr/>
          <p:nvPr/>
        </p:nvSpPr>
        <p:spPr>
          <a:xfrm>
            <a:off x="3521086" y="2276078"/>
            <a:ext cx="2216491" cy="188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74" kern="0" dirty="0">
                <a:solidFill>
                  <a:srgbClr val="3A475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UPLOAD MATERIAL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343689" y="2217241"/>
            <a:ext cx="1593612" cy="305991"/>
          </a:xfrm>
          <a:prstGeom prst="roundRect">
            <a:avLst>
              <a:gd name="adj" fmla="val 7694"/>
            </a:avLst>
          </a:prstGeom>
          <a:noFill/>
          <a:ln w="635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61359" y="2276078"/>
            <a:ext cx="1967855" cy="188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74" kern="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CREATE NOTICE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035326" y="2217241"/>
            <a:ext cx="1517017" cy="305991"/>
          </a:xfrm>
          <a:prstGeom prst="roundRect">
            <a:avLst>
              <a:gd name="adj" fmla="val 7694"/>
            </a:avLst>
          </a:prstGeom>
          <a:noFill/>
          <a:ln w="635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52997" y="2276078"/>
            <a:ext cx="1891260" cy="188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74" kern="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CREATE EVENT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403416" y="2628106"/>
            <a:ext cx="8178695" cy="3705225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15" name="Text 13"/>
          <p:cNvSpPr/>
          <p:nvPr/>
        </p:nvSpPr>
        <p:spPr>
          <a:xfrm>
            <a:off x="3632010" y="2856706"/>
            <a:ext cx="7721506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50" spc="-16" kern="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Upload Material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3632010" y="3265488"/>
            <a:ext cx="378450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Material Title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32010" y="3565029"/>
            <a:ext cx="3784505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Python Unit 1 Notes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568911" y="3265488"/>
            <a:ext cx="378450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Subject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568911" y="3565029"/>
            <a:ext cx="3784505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Python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3632010" y="3988693"/>
            <a:ext cx="772140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File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32010" y="4288234"/>
            <a:ext cx="7721407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⇧　Python_Unit_1_Notes.pdf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3632010" y="4712097"/>
            <a:ext cx="247217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Program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632010" y="5011638"/>
            <a:ext cx="2472172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B.Tech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256578" y="4712097"/>
            <a:ext cx="247227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Semester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56578" y="5011638"/>
            <a:ext cx="2472271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Semester 3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8881245" y="4712097"/>
            <a:ext cx="247217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Section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881245" y="5011638"/>
            <a:ext cx="2472172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Section F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3632010" y="5387876"/>
            <a:ext cx="1900587" cy="305991"/>
          </a:xfrm>
          <a:prstGeom prst="roundRect">
            <a:avLst>
              <a:gd name="adj" fmla="val 7694"/>
            </a:avLst>
          </a:prstGeom>
          <a:solidFill>
            <a:srgbClr val="D1F7FA"/>
          </a:solidFill>
          <a:ln/>
        </p:spPr>
      </p:sp>
      <p:sp>
        <p:nvSpPr>
          <p:cNvPr id="29" name="Text 27"/>
          <p:cNvSpPr/>
          <p:nvPr/>
        </p:nvSpPr>
        <p:spPr>
          <a:xfrm>
            <a:off x="3749680" y="5446713"/>
            <a:ext cx="2274831" cy="188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74" kern="0" dirty="0">
                <a:solidFill>
                  <a:srgbClr val="3A475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PUBLISH MATERIAL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632010" y="5798741"/>
            <a:ext cx="2787283" cy="305991"/>
          </a:xfrm>
          <a:prstGeom prst="roundRect">
            <a:avLst>
              <a:gd name="adj" fmla="val 7694"/>
            </a:avLst>
          </a:prstGeom>
          <a:solidFill>
            <a:srgbClr val="D1F7FA"/>
          </a:solidFill>
          <a:ln/>
        </p:spPr>
      </p:sp>
      <p:sp>
        <p:nvSpPr>
          <p:cNvPr id="31" name="Text 29"/>
          <p:cNvSpPr/>
          <p:nvPr/>
        </p:nvSpPr>
        <p:spPr>
          <a:xfrm>
            <a:off x="3749680" y="5857577"/>
            <a:ext cx="3161526" cy="188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74" kern="0" dirty="0">
                <a:solidFill>
                  <a:srgbClr val="3A475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✓ PUBLISHED SUCCESSFULLY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403416" y="6438205"/>
            <a:ext cx="817869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Only authorized faculty members can publish academic resources.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1395881" y="6451898"/>
            <a:ext cx="795814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CRs and semester coordinators manage different scopes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1735733"/>
            <a:ext cx="5008735" cy="4200624"/>
          </a:xfrm>
          <a:prstGeom prst="roundRect">
            <a:avLst>
              <a:gd name="adj" fmla="val 771"/>
            </a:avLst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3578" y="1989733"/>
            <a:ext cx="1757021" cy="336649"/>
          </a:xfrm>
          <a:prstGeom prst="roundRect">
            <a:avLst>
              <a:gd name="adj" fmla="val 7696"/>
            </a:avLst>
          </a:prstGeom>
          <a:solidFill>
            <a:srgbClr val="D1F7FA"/>
          </a:solidFill>
          <a:ln/>
        </p:spPr>
      </p:sp>
      <p:sp>
        <p:nvSpPr>
          <p:cNvPr id="5" name="Text 3"/>
          <p:cNvSpPr/>
          <p:nvPr/>
        </p:nvSpPr>
        <p:spPr>
          <a:xfrm>
            <a:off x="993056" y="2054423"/>
            <a:ext cx="2107651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82" kern="0" dirty="0">
                <a:solidFill>
                  <a:srgbClr val="3A475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CR DASHBOARD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63578" y="2453382"/>
            <a:ext cx="4754741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B.Tech • Semester 3 • Section F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3578" y="2945805"/>
            <a:ext cx="4500648" cy="31651"/>
          </a:xfrm>
          <a:prstGeom prst="roundRect">
            <a:avLst>
              <a:gd name="adj" fmla="val 49998"/>
            </a:avLst>
          </a:prstGeom>
          <a:solidFill>
            <a:srgbClr val="A7B3BE"/>
          </a:solidFill>
          <a:ln/>
        </p:spPr>
      </p:sp>
      <p:sp>
        <p:nvSpPr>
          <p:cNvPr id="8" name="Text 6"/>
          <p:cNvSpPr/>
          <p:nvPr/>
        </p:nvSpPr>
        <p:spPr>
          <a:xfrm>
            <a:off x="863578" y="3156942"/>
            <a:ext cx="2174126" cy="1193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Dashboard</a:t>
            </a:r>
            <a:endParaRPr lang="en-US" sz="1700" dirty="0"/>
          </a:p>
          <a:p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Section Information</a:t>
            </a:r>
            <a:endParaRPr lang="en-US" sz="17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Notices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190101" y="3156942"/>
            <a:ext cx="2174225" cy="1506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Events</a:t>
            </a:r>
            <a:endParaRPr lang="en-US" sz="1700" dirty="0"/>
          </a:p>
          <a:p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Authorized Communication</a:t>
            </a:r>
            <a:endParaRPr lang="en-US" sz="17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Profile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63578" y="4790083"/>
            <a:ext cx="3181171" cy="336649"/>
          </a:xfrm>
          <a:prstGeom prst="roundRect">
            <a:avLst>
              <a:gd name="adj" fmla="val 7696"/>
            </a:avLst>
          </a:prstGeom>
          <a:noFill/>
          <a:ln w="635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3056" y="4854773"/>
            <a:ext cx="3531801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82" kern="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SHARE SECTION INFORMATION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63578" y="5253732"/>
            <a:ext cx="450074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CR permissions are limited to authorized section-level functions.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23013" y="3679527"/>
            <a:ext cx="34557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→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573276" y="1735733"/>
            <a:ext cx="5008834" cy="4200624"/>
          </a:xfrm>
          <a:prstGeom prst="roundRect">
            <a:avLst>
              <a:gd name="adj" fmla="val 771"/>
            </a:avLst>
          </a:prstGeom>
          <a:solidFill>
            <a:srgbClr val="E7EAF0"/>
          </a:solidFill>
          <a:ln/>
        </p:spPr>
      </p:sp>
      <p:sp>
        <p:nvSpPr>
          <p:cNvPr id="15" name="Shape 13"/>
          <p:cNvSpPr/>
          <p:nvPr/>
        </p:nvSpPr>
        <p:spPr>
          <a:xfrm>
            <a:off x="6801870" y="1964333"/>
            <a:ext cx="2711878" cy="336649"/>
          </a:xfrm>
          <a:prstGeom prst="roundRect">
            <a:avLst>
              <a:gd name="adj" fmla="val 7696"/>
            </a:avLst>
          </a:prstGeom>
          <a:solidFill>
            <a:srgbClr val="D1F7FA"/>
          </a:solidFill>
          <a:ln/>
        </p:spPr>
      </p:sp>
      <p:sp>
        <p:nvSpPr>
          <p:cNvPr id="16" name="Text 14"/>
          <p:cNvSpPr/>
          <p:nvPr/>
        </p:nvSpPr>
        <p:spPr>
          <a:xfrm>
            <a:off x="6931348" y="2029023"/>
            <a:ext cx="3062509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82" kern="0" dirty="0">
                <a:solidFill>
                  <a:srgbClr val="3A475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SEMESTER COORDINATOR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801870" y="2386707"/>
            <a:ext cx="455164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Semester 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801870" y="2903240"/>
            <a:ext cx="4551646" cy="31651"/>
          </a:xfrm>
          <a:prstGeom prst="roundRect">
            <a:avLst>
              <a:gd name="adj" fmla="val 49998"/>
            </a:avLst>
          </a:prstGeom>
          <a:solidFill>
            <a:srgbClr val="A7B3BE"/>
          </a:solidFill>
          <a:ln/>
        </p:spPr>
      </p:sp>
      <p:sp>
        <p:nvSpPr>
          <p:cNvPr id="19" name="Text 17"/>
          <p:cNvSpPr/>
          <p:nvPr/>
        </p:nvSpPr>
        <p:spPr>
          <a:xfrm>
            <a:off x="6801870" y="3114377"/>
            <a:ext cx="2199625" cy="1193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Dashboard</a:t>
            </a:r>
            <a:endParaRPr lang="en-US" sz="1700" dirty="0"/>
          </a:p>
          <a:p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Semester Information</a:t>
            </a:r>
            <a:endParaRPr lang="en-US" sz="17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Sections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153891" y="3114377"/>
            <a:ext cx="2199625" cy="1193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Notices</a:t>
            </a:r>
            <a:endParaRPr lang="en-US" sz="1700" dirty="0"/>
          </a:p>
          <a:p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Academic Updates</a:t>
            </a:r>
            <a:endParaRPr lang="en-US" sz="17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Profile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801870" y="4434483"/>
            <a:ext cx="4551646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Semester Information → Sections → Authorized Updates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1399354" y="6451898"/>
            <a:ext cx="792341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Program and faculty administration expose the hierarchy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1735733"/>
            <a:ext cx="5410065" cy="3416895"/>
          </a:xfrm>
          <a:prstGeom prst="roundRect">
            <a:avLst>
              <a:gd name="adj" fmla="val 948"/>
            </a:avLst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6582" y="1862733"/>
            <a:ext cx="1795318" cy="336649"/>
          </a:xfrm>
          <a:prstGeom prst="roundRect">
            <a:avLst>
              <a:gd name="adj" fmla="val 7696"/>
            </a:avLst>
          </a:prstGeom>
          <a:solidFill>
            <a:srgbClr val="D1F7FA"/>
          </a:solidFill>
          <a:ln/>
        </p:spPr>
      </p:sp>
      <p:sp>
        <p:nvSpPr>
          <p:cNvPr id="5" name="Text 3"/>
          <p:cNvSpPr/>
          <p:nvPr/>
        </p:nvSpPr>
        <p:spPr>
          <a:xfrm>
            <a:off x="866059" y="1927423"/>
            <a:ext cx="2145949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82" kern="0" dirty="0">
                <a:solidFill>
                  <a:srgbClr val="3A475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PROGRAM HEAD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6582" y="2285107"/>
            <a:ext cx="5156071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Program: B.Tech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6582" y="2749252"/>
            <a:ext cx="2501837" cy="1193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Dashboard</a:t>
            </a:r>
            <a:endParaRPr lang="en-US" sz="1700" dirty="0"/>
          </a:p>
          <a:p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Program Information</a:t>
            </a:r>
            <a:endParaRPr lang="en-US" sz="17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Faculty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390815" y="2749252"/>
            <a:ext cx="2501837" cy="1193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Semesters</a:t>
            </a:r>
            <a:endParaRPr lang="en-US" sz="1700" dirty="0"/>
          </a:p>
          <a:p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Notices</a:t>
            </a:r>
            <a:endParaRPr lang="en-US" sz="17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Academic Updates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6582" y="4069358"/>
            <a:ext cx="2501837" cy="956270"/>
          </a:xfrm>
          <a:prstGeom prst="roundRect">
            <a:avLst>
              <a:gd name="adj" fmla="val 3387"/>
            </a:avLst>
          </a:prstGeom>
          <a:solidFill>
            <a:srgbClr val="E7EAF0"/>
          </a:solidFill>
          <a:ln/>
        </p:spPr>
      </p:sp>
      <p:sp>
        <p:nvSpPr>
          <p:cNvPr id="10" name="Text 8"/>
          <p:cNvSpPr/>
          <p:nvPr/>
        </p:nvSpPr>
        <p:spPr>
          <a:xfrm>
            <a:off x="838179" y="4170958"/>
            <a:ext cx="2298642" cy="753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Faculty Members</a:t>
            </a:r>
            <a:endParaRPr lang="en-US" sz="17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Semesters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390815" y="4069358"/>
            <a:ext cx="2501837" cy="956270"/>
          </a:xfrm>
          <a:prstGeom prst="roundRect">
            <a:avLst>
              <a:gd name="adj" fmla="val 3387"/>
            </a:avLst>
          </a:prstGeom>
          <a:solidFill>
            <a:srgbClr val="E7EAF0"/>
          </a:solidFill>
          <a:ln/>
        </p:spPr>
      </p:sp>
      <p:sp>
        <p:nvSpPr>
          <p:cNvPr id="12" name="Text 10"/>
          <p:cNvSpPr/>
          <p:nvPr/>
        </p:nvSpPr>
        <p:spPr>
          <a:xfrm>
            <a:off x="3492413" y="4170958"/>
            <a:ext cx="2298642" cy="753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Sections</a:t>
            </a:r>
            <a:endParaRPr lang="en-US" sz="17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Academic Updates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172046" y="1735733"/>
            <a:ext cx="5410065" cy="3416895"/>
          </a:xfrm>
          <a:prstGeom prst="roundRect">
            <a:avLst>
              <a:gd name="adj" fmla="val 948"/>
            </a:avLst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99042" y="1862733"/>
            <a:ext cx="3494794" cy="336649"/>
          </a:xfrm>
          <a:prstGeom prst="roundRect">
            <a:avLst>
              <a:gd name="adj" fmla="val 7696"/>
            </a:avLst>
          </a:prstGeom>
          <a:solidFill>
            <a:srgbClr val="D1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6428520" y="1927423"/>
            <a:ext cx="384542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82" kern="0" dirty="0">
                <a:solidFill>
                  <a:srgbClr val="3A475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DEAN / FACULTY ADMINISTRATION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299042" y="2285107"/>
            <a:ext cx="5156071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Faculty: FOCT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99042" y="2749252"/>
            <a:ext cx="2501837" cy="1193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Dashboard</a:t>
            </a:r>
            <a:endParaRPr lang="en-US" sz="1700" dirty="0"/>
          </a:p>
          <a:p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Programs</a:t>
            </a:r>
            <a:endParaRPr lang="en-US" sz="17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Program Heads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953276" y="2749252"/>
            <a:ext cx="2501837" cy="1193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Academic Information</a:t>
            </a:r>
            <a:endParaRPr lang="en-US" sz="1700" dirty="0"/>
          </a:p>
          <a:p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Notices</a:t>
            </a:r>
            <a:endParaRPr lang="en-US" sz="17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Events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299042" y="4069358"/>
            <a:ext cx="2501837" cy="511770"/>
          </a:xfrm>
          <a:prstGeom prst="roundRect">
            <a:avLst>
              <a:gd name="adj" fmla="val 6328"/>
            </a:avLst>
          </a:prstGeom>
          <a:solidFill>
            <a:srgbClr val="E7EAF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640" y="4170958"/>
            <a:ext cx="2298642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B.Tech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953276" y="4069358"/>
            <a:ext cx="2501837" cy="511770"/>
          </a:xfrm>
          <a:prstGeom prst="roundRect">
            <a:avLst>
              <a:gd name="adj" fmla="val 6328"/>
            </a:avLst>
          </a:prstGeom>
          <a:solidFill>
            <a:srgbClr val="E7EAF0"/>
          </a:solidFill>
          <a:ln/>
        </p:spPr>
      </p:sp>
      <p:sp>
        <p:nvSpPr>
          <p:cNvPr id="22" name="Text 20"/>
          <p:cNvSpPr/>
          <p:nvPr/>
        </p:nvSpPr>
        <p:spPr>
          <a:xfrm>
            <a:off x="9054873" y="4170958"/>
            <a:ext cx="2298642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BCA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09585" y="5346303"/>
            <a:ext cx="10972526" cy="516235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24" name="Text 22"/>
          <p:cNvSpPr/>
          <p:nvPr/>
        </p:nvSpPr>
        <p:spPr>
          <a:xfrm>
            <a:off x="711182" y="5447903"/>
            <a:ext cx="10870928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FOCT → Programs → Academic Information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09585" y="6056213"/>
            <a:ext cx="1158211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FOCT — Faculty of Computer Technology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404116" y="6451898"/>
            <a:ext cx="78757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200" spc="-22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Administration controls structure, roles, and content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09585" y="1026716"/>
            <a:ext cx="2164006" cy="5826026"/>
          </a:xfrm>
          <a:prstGeom prst="rect">
            <a:avLst/>
          </a:prstGeom>
          <a:solidFill>
            <a:srgbClr val="1B2632"/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1255316"/>
            <a:ext cx="1706817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spc="-12" kern="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Pulse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38179" y="1542455"/>
            <a:ext cx="1706817" cy="212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spcAft>
                <a:spcPts val="45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Dashboard</a:t>
            </a:r>
            <a:endParaRPr lang="en-US" sz="1150" dirty="0"/>
          </a:p>
          <a:p>
            <a:pPr algn="l" indent="0" marL="0">
              <a:lnSpc>
                <a:spcPct val="102000"/>
              </a:lnSpc>
              <a:spcAft>
                <a:spcPts val="45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Users</a:t>
            </a:r>
            <a:endParaRPr lang="en-US" sz="1150" dirty="0"/>
          </a:p>
          <a:p>
            <a:pPr algn="l" indent="0" marL="0">
              <a:lnSpc>
                <a:spcPct val="102000"/>
              </a:lnSpc>
              <a:spcAft>
                <a:spcPts val="45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Roles &amp; Permissions</a:t>
            </a:r>
            <a:endParaRPr lang="en-US" sz="1150" dirty="0"/>
          </a:p>
          <a:p>
            <a:pPr algn="l" indent="0" marL="0">
              <a:lnSpc>
                <a:spcPct val="102000"/>
              </a:lnSpc>
              <a:spcAft>
                <a:spcPts val="45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Faculties</a:t>
            </a:r>
            <a:endParaRPr lang="en-US" sz="1150" dirty="0"/>
          </a:p>
          <a:p>
            <a:pPr algn="l" indent="0" marL="0">
              <a:lnSpc>
                <a:spcPct val="102000"/>
              </a:lnSpc>
              <a:spcAft>
                <a:spcPts val="45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Programs</a:t>
            </a:r>
            <a:endParaRPr lang="en-US" sz="1150" dirty="0"/>
          </a:p>
          <a:p>
            <a:pPr algn="l" indent="0" marL="0">
              <a:lnSpc>
                <a:spcPct val="102000"/>
              </a:lnSpc>
              <a:spcAft>
                <a:spcPts val="45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Semesters</a:t>
            </a:r>
            <a:endParaRPr lang="en-US" sz="1150" dirty="0"/>
          </a:p>
          <a:p>
            <a:pPr algn="l" indent="0" marL="0">
              <a:lnSpc>
                <a:spcPct val="102000"/>
              </a:lnSpc>
              <a:spcAft>
                <a:spcPts val="45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Sections</a:t>
            </a:r>
            <a:endParaRPr lang="en-US" sz="1150" dirty="0"/>
          </a:p>
          <a:p>
            <a:pPr algn="l" indent="0" marL="0">
              <a:lnSpc>
                <a:spcPct val="102000"/>
              </a:lnSpc>
              <a:spcAft>
                <a:spcPts val="45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Content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Settings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925888" y="1026716"/>
            <a:ext cx="8656223" cy="136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spc="66" kern="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SYSTEM ADMINISTRATOR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925888" y="1204218"/>
            <a:ext cx="8656223" cy="284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50" spc="-17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Dashboard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2925888" y="1562398"/>
            <a:ext cx="2941564" cy="232370"/>
          </a:xfrm>
          <a:prstGeom prst="roundRect">
            <a:avLst>
              <a:gd name="adj" fmla="val 7697"/>
            </a:avLst>
          </a:prstGeom>
          <a:solidFill>
            <a:srgbClr val="D1F7FA"/>
          </a:solidFill>
          <a:ln/>
        </p:spPr>
      </p:sp>
      <p:sp>
        <p:nvSpPr>
          <p:cNvPr id="9" name="Text 7"/>
          <p:cNvSpPr/>
          <p:nvPr/>
        </p:nvSpPr>
        <p:spPr>
          <a:xfrm>
            <a:off x="3015282" y="1607046"/>
            <a:ext cx="3372361" cy="14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spc="56" kern="0" dirty="0">
                <a:solidFill>
                  <a:srgbClr val="3A475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RESTRICTED ADMINISTRATIVE FUNCTIONS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25888" y="1855291"/>
            <a:ext cx="2049709" cy="639763"/>
          </a:xfrm>
          <a:prstGeom prst="roundRect">
            <a:avLst>
              <a:gd name="adj" fmla="val 3495"/>
            </a:avLst>
          </a:prstGeom>
          <a:solidFill>
            <a:srgbClr val="E7EAF0"/>
          </a:solidFill>
          <a:ln/>
        </p:spPr>
      </p:sp>
      <p:sp>
        <p:nvSpPr>
          <p:cNvPr id="11" name="Text 9"/>
          <p:cNvSpPr/>
          <p:nvPr/>
        </p:nvSpPr>
        <p:spPr>
          <a:xfrm>
            <a:off x="3154482" y="2083891"/>
            <a:ext cx="1821115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127993" y="1855291"/>
            <a:ext cx="2049808" cy="639763"/>
          </a:xfrm>
          <a:prstGeom prst="roundRect">
            <a:avLst>
              <a:gd name="adj" fmla="val 3495"/>
            </a:avLst>
          </a:prstGeom>
          <a:solidFill>
            <a:srgbClr val="E7EAF0"/>
          </a:solidFill>
          <a:ln/>
        </p:spPr>
      </p:sp>
      <p:sp>
        <p:nvSpPr>
          <p:cNvPr id="13" name="Text 11"/>
          <p:cNvSpPr/>
          <p:nvPr/>
        </p:nvSpPr>
        <p:spPr>
          <a:xfrm>
            <a:off x="5356587" y="2083891"/>
            <a:ext cx="1821214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Programs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30197" y="1855291"/>
            <a:ext cx="2049709" cy="639763"/>
          </a:xfrm>
          <a:prstGeom prst="roundRect">
            <a:avLst>
              <a:gd name="adj" fmla="val 3495"/>
            </a:avLst>
          </a:prstGeom>
          <a:solidFill>
            <a:srgbClr val="E7EAF0"/>
          </a:solidFill>
          <a:ln/>
        </p:spPr>
      </p:sp>
      <p:sp>
        <p:nvSpPr>
          <p:cNvPr id="15" name="Text 13"/>
          <p:cNvSpPr/>
          <p:nvPr/>
        </p:nvSpPr>
        <p:spPr>
          <a:xfrm>
            <a:off x="7558791" y="2083891"/>
            <a:ext cx="1821115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Sections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532302" y="1855291"/>
            <a:ext cx="2049808" cy="639763"/>
          </a:xfrm>
          <a:prstGeom prst="roundRect">
            <a:avLst>
              <a:gd name="adj" fmla="val 3495"/>
            </a:avLst>
          </a:prstGeom>
          <a:solidFill>
            <a:srgbClr val="E7EAF0"/>
          </a:solidFill>
          <a:ln/>
        </p:spPr>
      </p:sp>
      <p:sp>
        <p:nvSpPr>
          <p:cNvPr id="17" name="Text 15"/>
          <p:cNvSpPr/>
          <p:nvPr/>
        </p:nvSpPr>
        <p:spPr>
          <a:xfrm>
            <a:off x="9760896" y="2083891"/>
            <a:ext cx="1821214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Published Content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925888" y="2555577"/>
            <a:ext cx="3968452" cy="4297164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19" name="Text 17"/>
          <p:cNvSpPr/>
          <p:nvPr/>
        </p:nvSpPr>
        <p:spPr>
          <a:xfrm>
            <a:off x="3154482" y="2784177"/>
            <a:ext cx="3511264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spc="-12" kern="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Role Management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54482" y="3071316"/>
          <a:ext cx="9143771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</a:tblGrid>
              <a:tr h="30796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Role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11783" marR="111783" marT="59617" marB="59617" anchor="ctr">
                    <a:lnL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Access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11783" marR="111783" marT="59617" marB="59617" anchor="ctr">
                    <a:lnL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11783" marR="111783" marT="59617" marB="59617" anchor="ctr">
                    <a:lnL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F"/>
                    </a:solidFill>
                  </a:tcPr>
                </a:tc>
              </a:tr>
              <a:tr h="4905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Student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11783" marR="111783" marT="59617" marB="59617" anchor="ctr">
                    <a:lnL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Assigned content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11783" marR="111783" marT="59617" marB="59617" anchor="ctr">
                    <a:lnL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11783" marR="111783" marT="59617" marB="59617" anchor="ctr">
                    <a:lnL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F"/>
                    </a:solidFill>
                  </a:tcPr>
                </a:tc>
              </a:tr>
              <a:tr h="4905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CR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11783" marR="111783" marT="59617" marB="59617" anchor="ctr">
                    <a:lnL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Section scope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11783" marR="111783" marT="59617" marB="59617" anchor="ctr">
                    <a:lnL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11783" marR="111783" marT="59617" marB="59617" anchor="ctr">
                    <a:lnL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F"/>
                    </a:solidFill>
                  </a:tcPr>
                </a:tc>
              </a:tr>
              <a:tr h="4905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Faculty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11783" marR="111783" marT="59617" marB="59617" anchor="ctr">
                    <a:lnL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Academic resources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11783" marR="111783" marT="59617" marB="59617" anchor="ctr">
                    <a:lnL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11783" marR="111783" marT="59617" marB="59617" anchor="ctr">
                    <a:lnL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F"/>
                    </a:solidFill>
                  </a:tcPr>
                </a:tc>
              </a:tr>
              <a:tr h="4905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Coordinator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11783" marR="111783" marT="59617" marB="59617" anchor="ctr">
                    <a:lnL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Semester scope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11783" marR="111783" marT="59617" marB="59617" anchor="ctr">
                    <a:lnL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11783" marR="111783" marT="59617" marB="59617" anchor="ctr">
                    <a:lnL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F"/>
                    </a:solidFill>
                  </a:tcPr>
                </a:tc>
              </a:tr>
              <a:tr h="4905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Program Head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11783" marR="111783" marT="59617" marB="59617" anchor="ctr">
                    <a:lnL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Program scope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11783" marR="111783" marT="59617" marB="59617" anchor="ctr">
                    <a:lnL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11783" marR="111783" marT="59617" marB="59617" anchor="ctr">
                    <a:lnL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F"/>
                    </a:solidFill>
                  </a:tcPr>
                </a:tc>
              </a:tr>
              <a:tr h="30796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Dean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11783" marR="111783" marT="59617" marB="59617" anchor="ctr">
                    <a:lnL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Faculty scope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11783" marR="111783" marT="59617" marB="59617" anchor="ctr">
                    <a:lnL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11783" marR="111783" marT="59617" marB="59617" anchor="ctr">
                    <a:lnL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F"/>
                    </a:solidFill>
                  </a:tcPr>
                </a:tc>
              </a:tr>
              <a:tr h="4841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Administrator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11783" marR="111783" marT="59617" marB="59617" anchor="ctr">
                    <a:lnL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11783" marR="111783" marT="59617" marB="59617" anchor="ctr">
                    <a:lnL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75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Restricted controls</a:t>
                      </a:r>
                      <a:endParaRPr lang="en-US" sz="115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111783" marR="111783" marT="59617" marB="59617" anchor="ctr">
                    <a:lnL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AEF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7046637" y="2784177"/>
            <a:ext cx="4535473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spc="-12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Academic structure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046637" y="3071316"/>
            <a:ext cx="4535473" cy="18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Faculty → Program → Semester → Section → Students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046637" y="3351609"/>
            <a:ext cx="4535374" cy="19050"/>
          </a:xfrm>
          <a:prstGeom prst="roundRect">
            <a:avLst>
              <a:gd name="adj" fmla="val 49999"/>
            </a:avLst>
          </a:prstGeom>
          <a:solidFill>
            <a:srgbClr val="A7B3BE"/>
          </a:solidFill>
          <a:ln/>
        </p:spPr>
      </p:sp>
      <p:sp>
        <p:nvSpPr>
          <p:cNvPr id="24" name="Text 21"/>
          <p:cNvSpPr/>
          <p:nvPr/>
        </p:nvSpPr>
        <p:spPr>
          <a:xfrm>
            <a:off x="7046637" y="3468390"/>
            <a:ext cx="4535473" cy="668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spcAft>
                <a:spcPts val="450"/>
              </a:spcAft>
              <a:buNone/>
            </a:pPr>
            <a:r>
              <a:rPr lang="en-US" sz="11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Roles &amp; Permissions</a:t>
            </a:r>
            <a:endParaRPr lang="en-US" sz="1150" dirty="0"/>
          </a:p>
          <a:p>
            <a:pPr algn="l" indent="0" marL="0">
              <a:lnSpc>
                <a:spcPct val="102000"/>
              </a:lnSpc>
              <a:spcAft>
                <a:spcPts val="450"/>
              </a:spcAft>
              <a:buNone/>
            </a:pPr>
            <a:r>
              <a:rPr lang="en-US" sz="11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Content controls</a:t>
            </a:r>
            <a:endParaRPr lang="en-US" sz="11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Settings affordances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7046637" y="4197648"/>
            <a:ext cx="1557894" cy="232370"/>
          </a:xfrm>
          <a:prstGeom prst="roundRect">
            <a:avLst>
              <a:gd name="adj" fmla="val 7697"/>
            </a:avLst>
          </a:prstGeom>
          <a:noFill/>
          <a:ln w="6350">
            <a:solidFill>
              <a:srgbClr val="0E7C8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136031" y="4242296"/>
            <a:ext cx="1988691" cy="14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spc="56" kern="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RESTRICTED ACCESS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11395881" y="6451898"/>
            <a:ext cx="795814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Every role has a clear next click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585" y="1280616"/>
            <a:ext cx="5410065" cy="991195"/>
          </a:xfrm>
          <a:prstGeom prst="roundRect">
            <a:avLst>
              <a:gd name="adj" fmla="val 3267"/>
            </a:avLst>
          </a:prstGeom>
          <a:solidFill>
            <a:srgbClr val="E7EAF0"/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1509216"/>
            <a:ext cx="4952876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Student</a:t>
            </a:r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　Login → Student Dashboard → Notices / Events / Materials → View Content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09585" y="2424212"/>
            <a:ext cx="5410065" cy="1041995"/>
          </a:xfrm>
          <a:prstGeom prst="roundRect">
            <a:avLst>
              <a:gd name="adj" fmla="val 3108"/>
            </a:avLst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3578" y="2678212"/>
            <a:ext cx="4902077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Faculty</a:t>
            </a:r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　Login → Faculty Dashboard → Upload Material → Select Program → Semester → Section → Publish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9585" y="3618607"/>
            <a:ext cx="5410065" cy="991195"/>
          </a:xfrm>
          <a:prstGeom prst="roundRect">
            <a:avLst>
              <a:gd name="adj" fmla="val 3267"/>
            </a:avLst>
          </a:prstGeom>
          <a:solidFill>
            <a:srgbClr val="E7EAF0"/>
          </a:solidFill>
          <a:ln/>
        </p:spPr>
      </p:sp>
      <p:sp>
        <p:nvSpPr>
          <p:cNvPr id="8" name="Text 6"/>
          <p:cNvSpPr/>
          <p:nvPr/>
        </p:nvSpPr>
        <p:spPr>
          <a:xfrm>
            <a:off x="838179" y="3847207"/>
            <a:ext cx="4952876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CR</a:t>
            </a:r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　Login → CR Dashboard → Authorized Section Communication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09585" y="4762202"/>
            <a:ext cx="5410065" cy="1041995"/>
          </a:xfrm>
          <a:prstGeom prst="roundRect">
            <a:avLst>
              <a:gd name="adj" fmla="val 3108"/>
            </a:avLst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3578" y="5016202"/>
            <a:ext cx="4902077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Semester Coordinator</a:t>
            </a:r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　Login → Coordinator Dashboard → Semester Information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172046" y="1280616"/>
            <a:ext cx="5410065" cy="1389261"/>
          </a:xfrm>
          <a:prstGeom prst="roundRect">
            <a:avLst>
              <a:gd name="adj" fmla="val 2331"/>
            </a:avLst>
          </a:prstGeom>
          <a:solidFill>
            <a:srgbClr val="E7EAF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640" y="1509216"/>
            <a:ext cx="4952876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Program Head</a:t>
            </a:r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　Login → Program Dashboard → Program Information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172046" y="2822277"/>
            <a:ext cx="5410065" cy="1440160"/>
          </a:xfrm>
          <a:prstGeom prst="roundRect">
            <a:avLst>
              <a:gd name="adj" fmla="val 2249"/>
            </a:avLst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6039" y="3076277"/>
            <a:ext cx="4902077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Dean</a:t>
            </a:r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　Login → Dean Dashboard → Faculty / Program Information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172046" y="4414838"/>
            <a:ext cx="5410065" cy="1389360"/>
          </a:xfrm>
          <a:prstGeom prst="roundRect">
            <a:avLst>
              <a:gd name="adj" fmla="val 2331"/>
            </a:avLst>
          </a:prstGeom>
          <a:solidFill>
            <a:srgbClr val="E7EAF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640" y="4643437"/>
            <a:ext cx="4952876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3A475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Administrator</a:t>
            </a:r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　Login → Admin Dashboard → Users / Roles / Content / Academic Structure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399056" y="6451898"/>
            <a:ext cx="79263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41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400" spc="-24" kern="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Pulse turns role identification into authorized action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09585" y="1166813"/>
            <a:ext cx="2743131" cy="1189236"/>
          </a:xfrm>
          <a:prstGeom prst="roundRect">
            <a:avLst>
              <a:gd name="adj" fmla="val 2723"/>
            </a:avLst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3578" y="1420813"/>
            <a:ext cx="83589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63578" y="1723033"/>
            <a:ext cx="2235144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863578" y="1827808"/>
            <a:ext cx="2235144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spc="-16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52716" y="1166813"/>
            <a:ext cx="2743131" cy="1189236"/>
          </a:xfrm>
          <a:prstGeom prst="roundRect">
            <a:avLst>
              <a:gd name="adj" fmla="val 2723"/>
            </a:avLst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06710" y="1420813"/>
            <a:ext cx="87885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06710" y="1723033"/>
            <a:ext cx="2235144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3606710" y="1827808"/>
            <a:ext cx="2235144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spc="-16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Login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5848" y="1166813"/>
            <a:ext cx="2743131" cy="1189236"/>
          </a:xfrm>
          <a:prstGeom prst="roundRect">
            <a:avLst>
              <a:gd name="adj" fmla="val 2723"/>
            </a:avLst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49841" y="1420813"/>
            <a:ext cx="88471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349841" y="1723033"/>
            <a:ext cx="2235144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6349841" y="1827808"/>
            <a:ext cx="2235144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spc="-16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Role Identification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838979" y="1166813"/>
            <a:ext cx="2743131" cy="1189236"/>
          </a:xfrm>
          <a:prstGeom prst="roundRect">
            <a:avLst>
              <a:gd name="adj" fmla="val 2723"/>
            </a:avLst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92973" y="1420813"/>
            <a:ext cx="88391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092973" y="1723033"/>
            <a:ext cx="2235144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8" name="Text 16"/>
          <p:cNvSpPr/>
          <p:nvPr/>
        </p:nvSpPr>
        <p:spPr>
          <a:xfrm>
            <a:off x="9092973" y="1827808"/>
            <a:ext cx="2235144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spc="-16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Permission Check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9585" y="2549723"/>
            <a:ext cx="3657509" cy="1189236"/>
          </a:xfrm>
          <a:prstGeom prst="roundRect">
            <a:avLst>
              <a:gd name="adj" fmla="val 2723"/>
            </a:avLst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3578" y="2803723"/>
            <a:ext cx="83589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63578" y="3105944"/>
            <a:ext cx="3149521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2" name="Text 20"/>
          <p:cNvSpPr/>
          <p:nvPr/>
        </p:nvSpPr>
        <p:spPr>
          <a:xfrm>
            <a:off x="863578" y="3210719"/>
            <a:ext cx="3149521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spc="-16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Appropriate Dashboard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67093" y="2549723"/>
            <a:ext cx="3657509" cy="1189236"/>
          </a:xfrm>
          <a:prstGeom prst="roundRect">
            <a:avLst>
              <a:gd name="adj" fmla="val 2723"/>
            </a:avLst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1087" y="2803723"/>
            <a:ext cx="87885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521087" y="3105944"/>
            <a:ext cx="3149521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6" name="Text 24"/>
          <p:cNvSpPr/>
          <p:nvPr/>
        </p:nvSpPr>
        <p:spPr>
          <a:xfrm>
            <a:off x="4521087" y="3210719"/>
            <a:ext cx="3149521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spc="-16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Authorized Action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924602" y="2549723"/>
            <a:ext cx="3657509" cy="1189236"/>
          </a:xfrm>
          <a:prstGeom prst="roundRect">
            <a:avLst>
              <a:gd name="adj" fmla="val 2723"/>
            </a:avLst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78595" y="2803723"/>
            <a:ext cx="88471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8178595" y="3105944"/>
            <a:ext cx="3149521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0" name="Text 28"/>
          <p:cNvSpPr/>
          <p:nvPr/>
        </p:nvSpPr>
        <p:spPr>
          <a:xfrm>
            <a:off x="8178595" y="3210719"/>
            <a:ext cx="3149521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spc="-16" kern="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Approved Content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09585" y="3932634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-120"/>
              </a:rPr>
              <a:t>ROLE DASHBOARDS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09585" y="4324350"/>
            <a:ext cx="11582110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Student　·　CR　·　Faculty　　Semester Coordinator　·　Program Head　　Dean　·　Administrator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09585" y="4812605"/>
            <a:ext cx="3657509" cy="802580"/>
          </a:xfrm>
          <a:prstGeom prst="roundRect">
            <a:avLst>
              <a:gd name="adj" fmla="val 4035"/>
            </a:avLst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3578" y="5066605"/>
            <a:ext cx="3403515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Role-Based Access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267093" y="4812605"/>
            <a:ext cx="3657509" cy="802580"/>
          </a:xfrm>
          <a:prstGeom prst="roundRect">
            <a:avLst>
              <a:gd name="adj" fmla="val 4035"/>
            </a:avLst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21087" y="5066605"/>
            <a:ext cx="3403515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Minimum Necessary Data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924602" y="4812605"/>
            <a:ext cx="3657509" cy="802580"/>
          </a:xfrm>
          <a:prstGeom prst="roundRect">
            <a:avLst>
              <a:gd name="adj" fmla="val 4035"/>
            </a:avLst>
          </a:prstGeom>
          <a:noFill/>
          <a:ln w="25399">
            <a:solidFill>
              <a:srgbClr val="CDD0D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78595" y="5066605"/>
            <a:ext cx="3403515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6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Sample/Demo Data for Prototype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09585" y="5808861"/>
            <a:ext cx="10972526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60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Pulse is currently a prototype for review. Production deployment and use of real institutional data would require appropriate approval, security review, and technical evaluation.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428523" y="6451898"/>
            <a:ext cx="763172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2026-09-27T17:52:34Z</dcterms:created>
  <dcterms:modified xsi:type="dcterms:W3CDTF">2026-09-27T17:52:34Z</dcterms:modified>
</cp:coreProperties>
</file>